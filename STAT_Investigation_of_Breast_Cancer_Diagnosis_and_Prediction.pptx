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8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6918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7567043" y="1344168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6719695" y="2420115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3257" y="219457"/>
            <a:ext cx="628649" cy="575765"/>
          </a:xfrm>
        </p:spPr>
        <p:txBody>
          <a:bodyPr/>
          <a:lstStyle>
            <a:lvl1pPr>
              <a:defRPr sz="2100" b="0" i="0">
                <a:latin typeface="+mj-lt"/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5057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869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8" y="2008234"/>
            <a:ext cx="3263267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69" y="2008234"/>
            <a:ext cx="2816534" cy="1712867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3403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3083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3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5487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66619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5151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60" y="1085850"/>
            <a:ext cx="3892549" cy="3429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171701"/>
            <a:ext cx="2094869" cy="234695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32566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269999"/>
            <a:ext cx="2895195" cy="1301751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2920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725005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7" y="4152499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62091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97562"/>
            <a:ext cx="6619244" cy="1034816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44200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7289579" y="197386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72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721" y="443320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72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5388"/>
            <a:ext cx="6340430" cy="2023687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4329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74372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74801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05750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62974"/>
            <a:ext cx="2346876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6" y="2395171"/>
            <a:ext cx="2346876" cy="21251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6"/>
            <a:ext cx="235903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95171"/>
            <a:ext cx="2359035" cy="212512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5025" y="1962975"/>
            <a:ext cx="2370772" cy="43219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5026" y="2395171"/>
            <a:ext cx="2373539" cy="212512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43703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4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1"/>
            <a:ext cx="2287828" cy="68846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9403" y="3399635"/>
            <a:ext cx="2285075" cy="48836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8" y="1952625"/>
            <a:ext cx="2018431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6649" y="3888002"/>
            <a:ext cx="2287829" cy="6322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575" y="3399635"/>
            <a:ext cx="2287829" cy="4883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576" y="3888001"/>
            <a:ext cx="2287828" cy="6322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1115" y="1952625"/>
            <a:ext cx="0" cy="263819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51429" y="1952625"/>
            <a:ext cx="0" cy="2619375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84346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730251"/>
            <a:ext cx="6619245" cy="53022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08116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2567" y="958851"/>
            <a:ext cx="1060450" cy="3561442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5" y="958851"/>
            <a:ext cx="4685660" cy="356144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825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5280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1779"/>
            <a:ext cx="9144000" cy="5150270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5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59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8204" y="479554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6269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5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2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  <p:sldLayoutId id="2147483890" r:id="rId12"/>
    <p:sldLayoutId id="2147483891" r:id="rId13"/>
    <p:sldLayoutId id="2147483892" r:id="rId14"/>
    <p:sldLayoutId id="2147483893" r:id="rId15"/>
    <p:sldLayoutId id="2147483894" r:id="rId16"/>
    <p:sldLayoutId id="2147483895" r:id="rId17"/>
    <p:sldLayoutId id="2147483896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4375" y="644779"/>
            <a:ext cx="6429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277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Complex Engineering Project (CEP)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14375" y="1267988"/>
            <a:ext cx="6429375" cy="2539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STATISTICAL INVESTIGATION OF BREAST </a:t>
            </a:r>
            <a:r>
              <a:rPr lang="en-US" sz="3750" b="1" dirty="0">
                <a:solidFill>
                  <a:schemeClr val="accent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CANCER</a:t>
            </a:r>
            <a:r>
              <a:rPr lang="en-US" sz="375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 DIAGNOSIS AND PREDICTION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10602" y="4325485"/>
            <a:ext cx="1005083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Course:</a:t>
            </a:r>
            <a:r>
              <a:rPr lang="en-US" sz="10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STA281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2000306" y="4325485"/>
            <a:ext cx="1711151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Semester:</a:t>
            </a:r>
            <a:r>
              <a:rPr lang="en-US" sz="10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Spring</a:t>
            </a:r>
            <a:r>
              <a:rPr lang="en-US" sz="10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882907" y="4325485"/>
            <a:ext cx="3464635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Institution:</a:t>
            </a:r>
            <a:r>
              <a:rPr lang="en-US" sz="10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5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Computer</a:t>
            </a:r>
            <a:r>
              <a:rPr lang="en-US" sz="10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science and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650" y="583711"/>
            <a:ext cx="4143375" cy="55364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DATASET OVERVIEW &amp; PREPROCESSING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85750" y="1386306"/>
            <a:ext cx="41433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Breast Cancer Wisconsin (Diagnostic) Dataset provides features computed from digitized images of fine needle aspirates (FNA) of breast masses.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285750" y="2146334"/>
            <a:ext cx="1455009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Variables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740759" y="2146334"/>
            <a:ext cx="2688366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Description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85750" y="2407081"/>
            <a:ext cx="1455009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RadiusMean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740759" y="2407081"/>
            <a:ext cx="2688366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 radius of tumor cells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85750" y="2671400"/>
            <a:ext cx="1455009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TextureMean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740759" y="2671400"/>
            <a:ext cx="2688366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 texture of tumor cells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85750" y="2932147"/>
            <a:ext cx="1455009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AreaMean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40759" y="2932147"/>
            <a:ext cx="2688366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 area of tumor cells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85750" y="3192893"/>
            <a:ext cx="1455009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Diagnosis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740759" y="3192893"/>
            <a:ext cx="2688366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 = Malignant, B = Benign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714875" y="428625"/>
            <a:ext cx="1985963" cy="942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4714875" y="428625"/>
            <a:ext cx="57150" cy="942975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7" name="Text 14"/>
          <p:cNvSpPr/>
          <p:nvPr/>
        </p:nvSpPr>
        <p:spPr>
          <a:xfrm>
            <a:off x="4843463" y="557213"/>
            <a:ext cx="172878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569</a:t>
            </a:r>
            <a:endParaRPr lang="en-US" sz="3300" dirty="0"/>
          </a:p>
        </p:txBody>
      </p:sp>
      <p:sp>
        <p:nvSpPr>
          <p:cNvPr id="18" name="Text 15"/>
          <p:cNvSpPr/>
          <p:nvPr/>
        </p:nvSpPr>
        <p:spPr>
          <a:xfrm>
            <a:off x="4843463" y="1085850"/>
            <a:ext cx="17287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TOTAL OBSERVATIONS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872288" y="428625"/>
            <a:ext cx="1985963" cy="942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6872288" y="428625"/>
            <a:ext cx="57150" cy="942975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1" name="Text 18"/>
          <p:cNvSpPr/>
          <p:nvPr/>
        </p:nvSpPr>
        <p:spPr>
          <a:xfrm>
            <a:off x="7000875" y="557213"/>
            <a:ext cx="172878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31</a:t>
            </a:r>
            <a:endParaRPr lang="en-US" sz="3300" dirty="0"/>
          </a:p>
        </p:txBody>
      </p:sp>
      <p:sp>
        <p:nvSpPr>
          <p:cNvPr id="22" name="Text 19"/>
          <p:cNvSpPr/>
          <p:nvPr/>
        </p:nvSpPr>
        <p:spPr>
          <a:xfrm>
            <a:off x="7000875" y="1085850"/>
            <a:ext cx="17287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TOTAL VARIABLES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4875" y="2927542"/>
            <a:ext cx="4143375" cy="717166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Medical Preprocessing:</a:t>
            </a: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Essential for data integrity. All features are numerical (float64), ensuring suitability for advanced statistical modeling and inference.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8353"/>
            <a:ext cx="8715375" cy="27682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QUANTIFYING TUMOR CHARACTERISTICS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370651"/>
            <a:ext cx="2619356" cy="20459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370651"/>
            <a:ext cx="2619356" cy="5715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6" name="Text 3"/>
          <p:cNvSpPr/>
          <p:nvPr/>
        </p:nvSpPr>
        <p:spPr>
          <a:xfrm>
            <a:off x="642938" y="1584964"/>
            <a:ext cx="219073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RADIUSMEAN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2938" y="1813564"/>
            <a:ext cx="219073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14.13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642938" y="2413639"/>
            <a:ext cx="2190731" cy="731453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Std Dev:</a:t>
            </a: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3.52
</a:t>
            </a: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Median:</a:t>
            </a: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13.37
</a:t>
            </a: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Outliers:</a:t>
            </a: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5 (Z &gt; 3)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62294" y="1370651"/>
            <a:ext cx="2619384" cy="20459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3262294" y="1370651"/>
            <a:ext cx="2619384" cy="5715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1" name="Text 8"/>
          <p:cNvSpPr/>
          <p:nvPr/>
        </p:nvSpPr>
        <p:spPr>
          <a:xfrm>
            <a:off x="3476606" y="1584964"/>
            <a:ext cx="219075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AREAMEAN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76606" y="1813564"/>
            <a:ext cx="219075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654.89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3476606" y="2413639"/>
            <a:ext cx="2190759" cy="731453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Std Dev:</a:t>
            </a: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351.91
</a:t>
            </a: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Median:</a:t>
            </a: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551.10
</a:t>
            </a: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Outliers:</a:t>
            </a: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8 (Z &gt; 3)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095991" y="1370651"/>
            <a:ext cx="2619356" cy="20459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5991" y="1370651"/>
            <a:ext cx="2619356" cy="5715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6" name="Text 13"/>
          <p:cNvSpPr/>
          <p:nvPr/>
        </p:nvSpPr>
        <p:spPr>
          <a:xfrm>
            <a:off x="6310303" y="1584964"/>
            <a:ext cx="219073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COMPACTNESSMEAN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10303" y="1813564"/>
            <a:ext cx="219073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0.104</a:t>
            </a:r>
            <a:endParaRPr lang="en-US" sz="3300" dirty="0"/>
          </a:p>
        </p:txBody>
      </p:sp>
      <p:sp>
        <p:nvSpPr>
          <p:cNvPr id="18" name="Text 15"/>
          <p:cNvSpPr/>
          <p:nvPr/>
        </p:nvSpPr>
        <p:spPr>
          <a:xfrm>
            <a:off x="6310303" y="2413639"/>
            <a:ext cx="2190731" cy="731453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Std Dev:</a:t>
            </a: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0.053
</a:t>
            </a: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Median:</a:t>
            </a: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0.093
</a:t>
            </a: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Outliers:</a:t>
            </a: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9 (Z &gt; 3)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0" y="4718447"/>
            <a:ext cx="9144000" cy="425053"/>
          </a:xfrm>
          <a:prstGeom prst="rect">
            <a:avLst/>
          </a:prstGeom>
          <a:noFill/>
          <a:ln/>
        </p:spPr>
        <p:txBody>
          <a:bodyPr wrap="square" lIns="510286" tIns="0" rIns="0" bIns="340233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Healthcare Implications: These metrics establish baseline benchmarks for identifying atypical and potentially malignant tumor cases.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" y="874235"/>
            <a:ext cx="4528719" cy="301915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0" y="618353"/>
            <a:ext cx="4143375" cy="27682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VISUAL INSIGHTS &amp; PATTERNS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4707731" y="1366661"/>
            <a:ext cx="400764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SIZE DISTRIBUTION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4707731" y="1523823"/>
            <a:ext cx="40076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RadiusMean shows a right-skewed distribution, indicating that while smaller tumors are common, a significant tail of larger tumors exists.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4707731" y="1973880"/>
            <a:ext cx="400764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OUTLIER ANALYSIS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4707731" y="2131042"/>
            <a:ext cx="40076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AreaMean boxplots reveal extreme outliers, likely representing advanced-stage malignant cases requiring urgent intervention.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707731" y="2581098"/>
            <a:ext cx="400764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DIAGNOSTIC SEPARATION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4707731" y="2738261"/>
            <a:ext cx="40076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Scatter plots demonstrate a clear linear relationship between radius and area, with malignant tumors clustering in the high-value region.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572000" y="3295473"/>
            <a:ext cx="4143375" cy="564356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0" y="3295473"/>
            <a:ext cx="4143375" cy="5643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FAFAF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MALIGNANT TUMORS ARE OBJECTIVELY LARGER AND MORE IRREGULAR.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8353"/>
            <a:ext cx="3929063" cy="27682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DIAGNOSTIC PROBABILITIES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395236"/>
            <a:ext cx="3929063" cy="1114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395236"/>
            <a:ext cx="57150" cy="1114425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6" name="Text 3"/>
          <p:cNvSpPr/>
          <p:nvPr/>
        </p:nvSpPr>
        <p:spPr>
          <a:xfrm>
            <a:off x="642938" y="1609548"/>
            <a:ext cx="35004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37.26%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642938" y="2138186"/>
            <a:ext cx="35004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P(M): BASELINE MALIGNANCY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28625" y="2723973"/>
            <a:ext cx="3929063" cy="1114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2723973"/>
            <a:ext cx="57150" cy="1114425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0" name="Text 7"/>
          <p:cNvSpPr/>
          <p:nvPr/>
        </p:nvSpPr>
        <p:spPr>
          <a:xfrm>
            <a:off x="642938" y="2938286"/>
            <a:ext cx="35004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93.06%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642938" y="3466923"/>
            <a:ext cx="35004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P(M | RADIUS &gt; 15MM)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86313" y="571500"/>
            <a:ext cx="392906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BAYES' THEOREM APPLICATION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86313" y="1114425"/>
            <a:ext cx="69473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Condition: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1042" y="1114425"/>
            <a:ext cx="140731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RadiusMean &gt; 18 mm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86313" y="1345871"/>
            <a:ext cx="70723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Prior P(M):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93544" y="1345871"/>
            <a:ext cx="44469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0.3726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786313" y="1577318"/>
            <a:ext cx="142875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Likelihood P(R&gt;18|M):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15063" y="1577318"/>
            <a:ext cx="4714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0.4340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86313" y="1808764"/>
            <a:ext cx="118229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Evidence P(R&gt;18):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68603" y="1808764"/>
            <a:ext cx="38933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0.1617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786313" y="2218804"/>
            <a:ext cx="39290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000" b="1" dirty="0">
                <a:solidFill>
                  <a:srgbClr val="DB277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Posterior P(M | R &gt; 18mm) ≈ 100%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86313" y="2618854"/>
            <a:ext cx="3929063" cy="83721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Healthcare Interpretation:</a:t>
            </a: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Tumors exceeding 18mm in mean radius are almost definitive indicators of malignancy, requiring immediate clinical intervention.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8353"/>
            <a:ext cx="8715375" cy="27682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DISTRIBUTION ANALYSIS &amp; MODELING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299214"/>
            <a:ext cx="4000500" cy="2507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299214"/>
            <a:ext cx="4000500" cy="5715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6" name="Text 3"/>
          <p:cNvSpPr/>
          <p:nvPr/>
        </p:nvSpPr>
        <p:spPr>
          <a:xfrm>
            <a:off x="642938" y="1656401"/>
            <a:ext cx="357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NORMALITY CHECK: RADIUSMEAN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2938" y="1972512"/>
            <a:ext cx="75009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0.94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1500188" y="2151106"/>
            <a:ext cx="6786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SKEWNESS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42938" y="2422568"/>
            <a:ext cx="73044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0.85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1480542" y="2601162"/>
            <a:ext cx="60364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KURTOSIS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42938" y="2872625"/>
            <a:ext cx="3571875" cy="66289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distribution is </a:t>
            </a:r>
            <a:r>
              <a:rPr lang="en-US" sz="800" b="1" dirty="0">
                <a:solidFill>
                  <a:srgbClr val="DB277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right-skewed</a:t>
            </a: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Q-Q plot analysis reveals significant deviations at the tails, indicating that the normality assumption is not fully reasonable for tumor radius analysis.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14875" y="1299214"/>
            <a:ext cx="4000500" cy="2507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714875" y="1299214"/>
            <a:ext cx="4000500" cy="5715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4" name="Text 11"/>
          <p:cNvSpPr/>
          <p:nvPr/>
        </p:nvSpPr>
        <p:spPr>
          <a:xfrm>
            <a:off x="4929188" y="1656401"/>
            <a:ext cx="357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EXPONENTIAL WAITING TIMES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29188" y="1972512"/>
            <a:ext cx="72687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0.22</a:t>
            </a:r>
            <a:endParaRPr lang="en-US" sz="2450" dirty="0"/>
          </a:p>
        </p:txBody>
      </p:sp>
      <p:sp>
        <p:nvSpPr>
          <p:cNvPr id="16" name="Text 13"/>
          <p:cNvSpPr/>
          <p:nvPr/>
        </p:nvSpPr>
        <p:spPr>
          <a:xfrm>
            <a:off x="5763220" y="2151106"/>
            <a:ext cx="50664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RATE (Λ)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929188" y="2422568"/>
            <a:ext cx="73044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4.55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5766792" y="2601162"/>
            <a:ext cx="99655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EXPECTED WAIT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929188" y="2872625"/>
            <a:ext cx="3571875" cy="66289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Models the time between consecutive diagnoses. An expected wait of 4.55 units helps in </a:t>
            </a:r>
            <a:r>
              <a:rPr lang="en-US" sz="800" b="1" dirty="0">
                <a:solidFill>
                  <a:srgbClr val="DB277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healthcare preparedness</a:t>
            </a: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managing diagnostic workloads effectively.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8353"/>
            <a:ext cx="4886325" cy="27682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CENTRAL LIMIT THEOREM (CLT)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109486"/>
            <a:ext cx="4886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1000" b="1" dirty="0">
                <a:solidFill>
                  <a:srgbClr val="2563E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Central Limit Theorem</a:t>
            </a:r>
            <a:r>
              <a:rPr lang="en-US" sz="10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states that the sampling distribution of the mean will be approximately normal for </a:t>
            </a:r>
            <a:r>
              <a:rPr lang="en-US" sz="1000" b="1" dirty="0">
                <a:solidFill>
                  <a:srgbClr val="2563E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 ≥ 30</a:t>
            </a:r>
            <a:r>
              <a:rPr lang="en-US" sz="10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regardless of the population distribution.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46590" y="2238198"/>
            <a:ext cx="121728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Hypothesis Testing: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063874" y="2238198"/>
            <a:ext cx="32510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Enables Z-tests and T-tests for non-normal tumor data.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6590" y="2659680"/>
            <a:ext cx="116808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Confidence Intervals: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014677" y="2659680"/>
            <a:ext cx="330027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Provides the foundation for estimating population parameters.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46590" y="3081161"/>
            <a:ext cx="107513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Generalizability: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921725" y="3081161"/>
            <a:ext cx="33932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Supports applying sample findings to the broader patient population.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00700" y="428625"/>
            <a:ext cx="3114675" cy="9536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5600700" y="428625"/>
            <a:ext cx="57150" cy="953691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3" name="Text 10"/>
          <p:cNvSpPr/>
          <p:nvPr/>
        </p:nvSpPr>
        <p:spPr>
          <a:xfrm>
            <a:off x="5779294" y="607219"/>
            <a:ext cx="275748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85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49</a:t>
            </a:r>
            <a:endParaRPr lang="en-US" sz="2850" dirty="0"/>
          </a:p>
        </p:txBody>
      </p:sp>
      <p:sp>
        <p:nvSpPr>
          <p:cNvPr id="14" name="Text 11"/>
          <p:cNvSpPr/>
          <p:nvPr/>
        </p:nvSpPr>
        <p:spPr>
          <a:xfrm>
            <a:off x="5779294" y="1064419"/>
            <a:ext cx="27574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SAMPLE SIZE (N)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600700" y="1596628"/>
            <a:ext cx="3114675" cy="9536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5600700" y="1596628"/>
            <a:ext cx="57150" cy="953691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7" name="Text 14"/>
          <p:cNvSpPr/>
          <p:nvPr/>
        </p:nvSpPr>
        <p:spPr>
          <a:xfrm>
            <a:off x="5779294" y="1775222"/>
            <a:ext cx="275748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85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0.4286</a:t>
            </a:r>
            <a:endParaRPr lang="en-US" sz="2850" dirty="0"/>
          </a:p>
        </p:txBody>
      </p:sp>
      <p:sp>
        <p:nvSpPr>
          <p:cNvPr id="18" name="Text 15"/>
          <p:cNvSpPr/>
          <p:nvPr/>
        </p:nvSpPr>
        <p:spPr>
          <a:xfrm>
            <a:off x="5779294" y="2232422"/>
            <a:ext cx="27574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STANDARD ERROR (SE)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00700" y="2764631"/>
            <a:ext cx="3114675" cy="9536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5600700" y="2764631"/>
            <a:ext cx="57150" cy="953691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1" name="Text 18"/>
          <p:cNvSpPr/>
          <p:nvPr/>
        </p:nvSpPr>
        <p:spPr>
          <a:xfrm>
            <a:off x="5779294" y="2943225"/>
            <a:ext cx="275748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85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0.98%</a:t>
            </a:r>
            <a:endParaRPr lang="en-US" sz="2850" dirty="0"/>
          </a:p>
        </p:txBody>
      </p:sp>
      <p:sp>
        <p:nvSpPr>
          <p:cNvPr id="22" name="Text 19"/>
          <p:cNvSpPr/>
          <p:nvPr/>
        </p:nvSpPr>
        <p:spPr>
          <a:xfrm>
            <a:off x="5779294" y="3400425"/>
            <a:ext cx="27574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P(X̄ &gt; 15 MM)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987621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4930471" y="0"/>
            <a:ext cx="5715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761228"/>
            <a:ext cx="4558996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ESTIMATING POPULATION PARAMETERS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8625" y="1743494"/>
            <a:ext cx="455899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B277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95% CONFIDENCE INTERVAL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8625" y="2023886"/>
            <a:ext cx="4558996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35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15.51 – 16.89</a:t>
            </a:r>
            <a:endParaRPr lang="en-US" sz="4350" dirty="0"/>
          </a:p>
        </p:txBody>
      </p:sp>
      <p:sp>
        <p:nvSpPr>
          <p:cNvPr id="8" name="Text 5"/>
          <p:cNvSpPr/>
          <p:nvPr/>
        </p:nvSpPr>
        <p:spPr>
          <a:xfrm>
            <a:off x="428625" y="2695398"/>
            <a:ext cx="4558996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2563E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Mean Radius (mm)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28625" y="3418703"/>
            <a:ext cx="22080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SAMPLE SIZE (N)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28625" y="3540147"/>
            <a:ext cx="102334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64 Patients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79561" y="3418703"/>
            <a:ext cx="22080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SAMPLE MEAN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779561" y="3540147"/>
            <a:ext cx="85189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16.20 mm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8625" y="3891976"/>
            <a:ext cx="22080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STD. DEVIATION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28625" y="4013420"/>
            <a:ext cx="78759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2.80 mm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779561" y="3891976"/>
            <a:ext cx="22080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CONFIDENCE LEVEL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2779561" y="4013420"/>
            <a:ext cx="35897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95%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16246" y="571500"/>
            <a:ext cx="329912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CLINICAL INTERPRETATION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16246" y="921544"/>
            <a:ext cx="329912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are 95% confident that the true population mean radius of malignant tumors lies within this calculated range.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16246" y="1753009"/>
            <a:ext cx="329912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interval establishes a statistically sound benchmark for "typical" malignant tumor sizes in clinical practice.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16246" y="2584475"/>
            <a:ext cx="3299129" cy="417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Enables clinicians to evaluate individual patient measurements against reliable population-level thresholds.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8353"/>
            <a:ext cx="8715375" cy="27682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VALIDATING RESEARCHER CLAIMS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370651"/>
            <a:ext cx="4000500" cy="3071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370651"/>
            <a:ext cx="57150" cy="307181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642938" y="1727839"/>
            <a:ext cx="357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TEST 1: AVERAGE TUMOR AREA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2938" y="2043950"/>
            <a:ext cx="3571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P-VALUE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42938" y="2165393"/>
            <a:ext cx="357187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85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0.0021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642938" y="2879768"/>
            <a:ext cx="36968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Claim: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12627" y="2879768"/>
            <a:ext cx="95190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Area = 650 mm²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2938" y="3062632"/>
            <a:ext cx="8358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Sample Mean: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478756" y="3062632"/>
            <a:ext cx="93225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710 mm² (n=49)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42938" y="3245495"/>
            <a:ext cx="11072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Significance Level: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750219" y="3245495"/>
            <a:ext cx="45898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α = 0.05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42938" y="3549802"/>
            <a:ext cx="35718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2563E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RESULT: REJECT NULL HYPOTHESIS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42938" y="3754096"/>
            <a:ext cx="332541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 suggests mean area is significantly greater than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2938" y="3754096"/>
            <a:ext cx="3534370" cy="32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650 mm².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714875" y="1370651"/>
            <a:ext cx="4000500" cy="3071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714875" y="1370651"/>
            <a:ext cx="57150" cy="3071813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0" name="Text 17"/>
          <p:cNvSpPr/>
          <p:nvPr/>
        </p:nvSpPr>
        <p:spPr>
          <a:xfrm>
            <a:off x="4929188" y="1727839"/>
            <a:ext cx="357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TEST 2: COMPACTNESS MEAN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29188" y="2043950"/>
            <a:ext cx="3571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P-VALUE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929188" y="2165393"/>
            <a:ext cx="357187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85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&lt; 0.0001</a:t>
            </a:r>
            <a:endParaRPr lang="en-US" sz="2850" dirty="0"/>
          </a:p>
        </p:txBody>
      </p:sp>
      <p:sp>
        <p:nvSpPr>
          <p:cNvPr id="23" name="Text 20"/>
          <p:cNvSpPr/>
          <p:nvPr/>
        </p:nvSpPr>
        <p:spPr>
          <a:xfrm>
            <a:off x="4929188" y="2879768"/>
            <a:ext cx="36968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Claim: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298877" y="2879768"/>
            <a:ext cx="11430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Compactness = 0.12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929188" y="3062632"/>
            <a:ext cx="8358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Sample Mean: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765006" y="3062632"/>
            <a:ext cx="6357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0.10 (n=64)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929188" y="3245495"/>
            <a:ext cx="11072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Significance Level: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036469" y="3245495"/>
            <a:ext cx="4357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α = 0.01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929188" y="3549802"/>
            <a:ext cx="35718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DB277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RESULT: REJECT NULL HYPOTHESIS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929188" y="3754096"/>
            <a:ext cx="343971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evidence that mean compactness is significantly less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929188" y="3936960"/>
            <a:ext cx="52685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 0.12.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26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8353"/>
            <a:ext cx="3143250" cy="27682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CORRELATION ANALYSIS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49972"/>
            <a:ext cx="3733642" cy="31114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8625" y="5157453"/>
            <a:ext cx="3143250" cy="56859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Strongest Link:</a:t>
            </a: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RadiusMean vs AreaMean shows a near-perfect correlation.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3857625" y="618353"/>
            <a:ext cx="4857750" cy="27682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PREDICTIVE REGRESSION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3857625" y="1109486"/>
            <a:ext cx="4857750" cy="15055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3857625" y="1109486"/>
            <a:ext cx="57150" cy="1505545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9" name="Text 5"/>
          <p:cNvSpPr/>
          <p:nvPr/>
        </p:nvSpPr>
        <p:spPr>
          <a:xfrm>
            <a:off x="4071938" y="1323798"/>
            <a:ext cx="44291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LINEAR REGRESSION EQUATION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4071938" y="1516680"/>
            <a:ext cx="442912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Area = -738.04 + 98.60 × Radius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071938" y="1950662"/>
            <a:ext cx="21431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563E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CORRELATION (R)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4071938" y="2072106"/>
            <a:ext cx="84474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0.9874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357938" y="1950662"/>
            <a:ext cx="21431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563E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SLOPE (Β)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6357938" y="2072106"/>
            <a:ext cx="712589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98.60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857625" y="3115094"/>
            <a:ext cx="4857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52525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Predictive Interpretation:</a:t>
            </a: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Every 1 mm increase in tumor radius predicts a </a:t>
            </a:r>
            <a:r>
              <a:rPr lang="en-US" sz="900" b="1" dirty="0">
                <a:solidFill>
                  <a:srgbClr val="DB277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98.60 mm² increase</a:t>
            </a: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mean area.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857625" y="3655116"/>
            <a:ext cx="4857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model allows for high-precision cross-verification of tumor measurements and aids in identifying suspicious growth patterns during diagnosis.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8353"/>
            <a:ext cx="8715375" cy="27682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DIFFERENTIATING MALIGNANT &amp; BENIGN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299214"/>
            <a:ext cx="4057650" cy="1399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299214"/>
            <a:ext cx="4057650" cy="42863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6" name="Text 3"/>
          <p:cNvSpPr/>
          <p:nvPr/>
        </p:nvSpPr>
        <p:spPr>
          <a:xfrm>
            <a:off x="600075" y="1713077"/>
            <a:ext cx="3714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RADIUSMEAN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0075" y="1941677"/>
            <a:ext cx="152519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 = 25.44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2268141" y="2089910"/>
            <a:ext cx="7215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B2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 &lt; 0.0001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57725" y="1299214"/>
            <a:ext cx="4057650" cy="1399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657725" y="1299214"/>
            <a:ext cx="4057650" cy="42863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1" name="Text 8"/>
          <p:cNvSpPr/>
          <p:nvPr/>
        </p:nvSpPr>
        <p:spPr>
          <a:xfrm>
            <a:off x="4829175" y="1713077"/>
            <a:ext cx="3714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AREAMEAN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829175" y="1941677"/>
            <a:ext cx="15234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 = 23.94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6495455" y="2089910"/>
            <a:ext cx="7215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B2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 &lt; 0.0001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8625" y="2869890"/>
            <a:ext cx="4057650" cy="1399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428625" y="2869890"/>
            <a:ext cx="4057650" cy="42863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6" name="Text 13"/>
          <p:cNvSpPr/>
          <p:nvPr/>
        </p:nvSpPr>
        <p:spPr>
          <a:xfrm>
            <a:off x="600075" y="3283753"/>
            <a:ext cx="3714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TEXTUREMEAN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0075" y="3512353"/>
            <a:ext cx="144482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 = 10.87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2187773" y="3660586"/>
            <a:ext cx="7215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B2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 &lt; 0.0001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57725" y="2869890"/>
            <a:ext cx="4057650" cy="1399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4657725" y="2869890"/>
            <a:ext cx="4057650" cy="42863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1" name="Text 18"/>
          <p:cNvSpPr/>
          <p:nvPr/>
        </p:nvSpPr>
        <p:spPr>
          <a:xfrm>
            <a:off x="4829175" y="3283753"/>
            <a:ext cx="3714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COMPACTNESSMEAN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29175" y="3512353"/>
            <a:ext cx="139838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272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 = 17.70</a:t>
            </a:r>
            <a:endParaRPr lang="en-US" sz="2450" dirty="0"/>
          </a:p>
        </p:txBody>
      </p:sp>
      <p:sp>
        <p:nvSpPr>
          <p:cNvPr id="23" name="Text 20"/>
          <p:cNvSpPr/>
          <p:nvPr/>
        </p:nvSpPr>
        <p:spPr>
          <a:xfrm>
            <a:off x="6370439" y="3660586"/>
            <a:ext cx="7215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B277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 &lt; 0.0001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4269116"/>
            <a:ext cx="9144000" cy="8743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0" y="4269116"/>
            <a:ext cx="9144000" cy="14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3"/>
          <p:cNvSpPr/>
          <p:nvPr/>
        </p:nvSpPr>
        <p:spPr>
          <a:xfrm>
            <a:off x="428625" y="4504497"/>
            <a:ext cx="178593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HEALTHCARE SIGNIFICANCE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500313" y="4497716"/>
            <a:ext cx="6215063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Extreme statistical significance across all key features confirms that malignant tumors are objectively larger, rougher, and more irregular than benign tumors.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56106"/>
            <a:ext cx="80010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EVIDENCE-BASED CONCLUSION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19024"/>
            <a:ext cx="3857625" cy="2210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519024"/>
            <a:ext cx="3857625" cy="5715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1733336"/>
            <a:ext cx="3429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MAJOR DIAGNOSTIC INDICATORS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71563" y="2049447"/>
            <a:ext cx="3143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Tumor Size:</a:t>
            </a: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RadiusMean and AreaMean are the primary discriminators for malignancy.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1563" y="2516637"/>
            <a:ext cx="3143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Tumor Shape:</a:t>
            </a: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High compactness and concavity indicate irregular, suspicious growths.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1563" y="2983827"/>
            <a:ext cx="3143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Texture:</a:t>
            </a: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Surface heterogeneity (TextureMean) provides critical diagnostic context.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14875" y="1519024"/>
            <a:ext cx="3857625" cy="2210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714875" y="1519024"/>
            <a:ext cx="3857625" cy="5715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2" name="Text 9"/>
          <p:cNvSpPr/>
          <p:nvPr/>
        </p:nvSpPr>
        <p:spPr>
          <a:xfrm>
            <a:off x="4929188" y="1733336"/>
            <a:ext cx="3429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CLINICAL SIGNIFICANCE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214938" y="2049447"/>
            <a:ext cx="3143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Risk Assessment:</a:t>
            </a: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Probabilistic models enable rapid clinical triage and risk stratification.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214938" y="2516637"/>
            <a:ext cx="3143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Reliability:</a:t>
            </a: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CLT and Hypothesis Testing ensure findings are statistically sound.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214938" y="2983827"/>
            <a:ext cx="3143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72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Outcomes:</a:t>
            </a:r>
            <a:r>
              <a:rPr lang="en-US" sz="950" dirty="0">
                <a:solidFill>
                  <a:srgbClr val="525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Data-driven insights facilitate early intervention and personalized care.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1500" y="4101099"/>
            <a:ext cx="8001000" cy="853678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STATISTICAL INVESTIGATION IS </a:t>
            </a:r>
            <a:r>
              <a:rPr lang="en-US" sz="1600" b="1" dirty="0">
                <a:solidFill>
                  <a:srgbClr val="DB277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INDISPENSABLE</a:t>
            </a:r>
            <a:r>
              <a:rPr lang="en-US" sz="1600" b="1" dirty="0">
                <a:solidFill>
                  <a:srgbClr val="2727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 FOR ACCURATE BREAST CANCER DIAGNOSIS.</a:t>
            </a:r>
            <a:endParaRPr lang="en-US" sz="16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</TotalTime>
  <Words>912</Words>
  <Application>Microsoft Office PowerPoint</Application>
  <PresentationFormat>On-screen Show (16:9)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Century Gothic</vt:lpstr>
      <vt:lpstr>Inter Black</vt:lpstr>
      <vt:lpstr>Montserrat</vt:lpstr>
      <vt:lpstr>Montserrat Bold</vt:lpstr>
      <vt:lpstr>Space Grotesk Bold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AKM Dewan</cp:lastModifiedBy>
  <cp:revision>2</cp:revision>
  <dcterms:created xsi:type="dcterms:W3CDTF">2026-05-22T16:30:04Z</dcterms:created>
  <dcterms:modified xsi:type="dcterms:W3CDTF">2026-05-23T13:47:53Z</dcterms:modified>
</cp:coreProperties>
</file>